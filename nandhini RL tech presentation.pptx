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A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936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9505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Advanced Policy Optimization Techniques in Deep Reinforcement Learning</a:t>
            </a:r>
            <a:endParaRPr lang="en-US" sz="3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69904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PPO, TRPO &amp; DDPG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3205559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    Course: Reinforcement Learning for Environment and Agent (MLA03) · Assessment Tool 1  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    </a:t>
            </a:r>
            <a:r>
              <a:rPr lang="en-US" sz="1300" b="1" dirty="0">
                <a:solidFill>
                  <a:srgbClr val="E5DCE6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Name:</a:t>
            </a: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M. Nandhini    </a:t>
            </a:r>
            <a:r>
              <a:rPr lang="en-US" sz="1300" b="1" dirty="0">
                <a:solidFill>
                  <a:srgbClr val="E5DCE6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Registration No:</a:t>
            </a: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192472318  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106863"/>
            <a:ext cx="1545889" cy="9553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14031" y="4106863"/>
            <a:ext cx="35784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Agent → Environment Loop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414031" y="4464546"/>
            <a:ext cx="35784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Agent observes state → selects action → environment returns next state &amp; reward → policy updated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132" y="4106863"/>
            <a:ext cx="1545988" cy="9554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1787" y="4106863"/>
            <a:ext cx="35784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Visual motif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51787" y="4464546"/>
            <a:ext cx="35784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Subtle robotics and AI visuals to emphasise control and perception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69EDA0-5473-643D-4B5E-6B9377906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050" y="6334052"/>
            <a:ext cx="160995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Policy Optimization in Reinforcement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795932"/>
            <a:ext cx="11478330" cy="52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Reinforcement learning trains an agent to maximise expected cumulative reward by improving a policy π(a|s).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Policy optimization directly updates π to increase long‑run returns. Advanced methods trade sample efficiency, stability and computational cost.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97930" y="1476635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Proximal Policy Optimization (PPO)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4" y="1782359"/>
            <a:ext cx="5333569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On‑policy policy gradient method with surrogate objective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Uses a clipping mechanism to limit policy ratio r(θ) = π_θ(a|s)/π_{θ_old}(a|s)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Balances update size vs. performance — prevents large harmful updates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Relatively simple, robust and widely used in practise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640" y="1476635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Trust Region Policy Optimization (TRPO)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640" y="1811022"/>
            <a:ext cx="5333569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Constrained optimization: maximise surrogate objective subject to a KL divergence bound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Uses KL(π_{θ_old} || π_θ) to enforce a trust region (step size control)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Strong theoretical stability guarantees, but requires conjugate gradient / Hessian-vector ops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just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More computationally intensive than PPO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474" y="3246600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5DCE6">
              <a:alpha val="5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96" y="3067740"/>
            <a:ext cx="3790165" cy="379026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802" y="3215196"/>
            <a:ext cx="3495259" cy="3495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1475" y="718601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Visual: Left — PPO: Old Policy → Controlled Update → New Policy. Right — TRPO: Old Policy → Trust Region Constraint → Safe New Policy.</a:t>
            </a:r>
            <a:endParaRPr lang="en-US" sz="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4770A-E80F-B158-2EB7-BAFA561FF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050" y="6334052"/>
            <a:ext cx="160995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618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DDPG — Deep Deterministic Policy Gradient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934442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Actor‑Critic algorithm for continuous action spaces. Learns deterministic policy μ_θ(s) (Actor) and Q_φ(s,a) (Critic). </a:t>
            </a:r>
          </a:p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Combines off‑policy learning with replay and target networks for stability.  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7438" y="1384895"/>
            <a:ext cx="105864" cy="476746"/>
          </a:xfrm>
          <a:prstGeom prst="roundRect">
            <a:avLst>
              <a:gd name="adj" fmla="val 42036"/>
            </a:avLst>
          </a:prstGeom>
          <a:solidFill>
            <a:srgbClr val="282D5E"/>
          </a:solidFill>
          <a:ln/>
        </p:spPr>
      </p:sp>
      <p:sp>
        <p:nvSpPr>
          <p:cNvPr id="5" name="Text 3"/>
          <p:cNvSpPr/>
          <p:nvPr/>
        </p:nvSpPr>
        <p:spPr>
          <a:xfrm>
            <a:off x="1047128" y="1331913"/>
            <a:ext cx="547584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Actor</a:t>
            </a:r>
            <a:endParaRPr lang="en-US" sz="1400" dirty="0">
              <a:solidFill>
                <a:srgbClr val="EEAE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47128" y="1565275"/>
            <a:ext cx="547584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Maps state → continuous action (e.g., steering, motor torque). Updated using policy gradient from Critic.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6283" y="2088455"/>
            <a:ext cx="105864" cy="564158"/>
          </a:xfrm>
          <a:prstGeom prst="roundRect">
            <a:avLst>
              <a:gd name="adj" fmla="val 42036"/>
            </a:avLst>
          </a:prstGeom>
          <a:solidFill>
            <a:srgbClr val="282D5E"/>
          </a:solidFill>
          <a:ln/>
        </p:spPr>
      </p:sp>
      <p:sp>
        <p:nvSpPr>
          <p:cNvPr id="8" name="Text 6"/>
          <p:cNvSpPr/>
          <p:nvPr/>
        </p:nvSpPr>
        <p:spPr>
          <a:xfrm>
            <a:off x="1205974" y="2035473"/>
            <a:ext cx="531700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Critic</a:t>
            </a:r>
            <a:endParaRPr lang="en-US" sz="1400" dirty="0">
              <a:solidFill>
                <a:srgbClr val="EEAE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5974" y="2268835"/>
            <a:ext cx="5317000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Estimates Q(s,a). Provides gradients to update Actor; trained with Bellman targets using experience replay.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85228" y="2879427"/>
            <a:ext cx="105864" cy="564158"/>
          </a:xfrm>
          <a:prstGeom prst="roundRect">
            <a:avLst>
              <a:gd name="adj" fmla="val 42036"/>
            </a:avLst>
          </a:prstGeom>
          <a:solidFill>
            <a:srgbClr val="282D5E"/>
          </a:solidFill>
          <a:ln/>
        </p:spPr>
      </p:sp>
      <p:sp>
        <p:nvSpPr>
          <p:cNvPr id="11" name="Text 9"/>
          <p:cNvSpPr/>
          <p:nvPr/>
        </p:nvSpPr>
        <p:spPr>
          <a:xfrm>
            <a:off x="1364918" y="2826445"/>
            <a:ext cx="515805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Stability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components</a:t>
            </a:r>
            <a:endParaRPr lang="en-US" sz="1400" dirty="0">
              <a:solidFill>
                <a:srgbClr val="EEAE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64918" y="3059807"/>
            <a:ext cx="5158055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Target Actor/Critic networks, experience replay buffer, and exploration noise (e.g., OU/process or Gaussian)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683" y="1226046"/>
            <a:ext cx="4748788" cy="474890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3415" y="5994508"/>
            <a:ext cx="11567091" cy="60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Architecture flow: State → Actor → Action → Environment → Reward, Next State → Replay Buffer → Critic → Updates → Actor/Critic target networks.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61475" y="1315442"/>
            <a:ext cx="317790" cy="317798"/>
          </a:xfrm>
          <a:prstGeom prst="ellipse">
            <a:avLst/>
          </a:prstGeom>
          <a:solidFill>
            <a:srgbClr val="282D5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947" y="1394916"/>
            <a:ext cx="158845" cy="15884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20320" y="2019002"/>
            <a:ext cx="317790" cy="317798"/>
          </a:xfrm>
          <a:prstGeom prst="ellipse">
            <a:avLst/>
          </a:prstGeom>
          <a:solidFill>
            <a:srgbClr val="282D5E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792" y="2098477"/>
            <a:ext cx="158845" cy="15884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79265" y="2809974"/>
            <a:ext cx="317790" cy="317798"/>
          </a:xfrm>
          <a:prstGeom prst="ellipse">
            <a:avLst/>
          </a:prstGeom>
          <a:solidFill>
            <a:srgbClr val="282D5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737" y="2889448"/>
            <a:ext cx="158845" cy="1588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8B9940-AD9E-E910-16F5-34F991A15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2050" y="6334052"/>
            <a:ext cx="160995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Practical Example — Warehouse Robot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04" y="713284"/>
            <a:ext cx="3173407" cy="3173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41525" y="796094"/>
            <a:ext cx="644052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Scenario &amp; Elements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86820" y="1089626"/>
            <a:ext cx="6440525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Task: locate, pick and deliver packages safely and efficiently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State: position, package locations, obstacle map, velocity, destination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Actions: move forward/turn, change speed, arm control (continuous)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Rewards: pickup (+), delivery (high +), collisions (−), drop (−), efficiency (+)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43911" y="2235436"/>
            <a:ext cx="6440525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Algorithm roles (applied)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86819" y="2695351"/>
            <a:ext cx="6440525" cy="326132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PPO — stepwise policy improvements; safe incremental updates during online 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TRPO — enforce conservative updates when safety is critical (low collision risk)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DDPG — produce precise continuous controls for steering, speed and arm actuators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8280" y="357938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5DCE6">
              <a:alpha val="5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305" y="3749960"/>
            <a:ext cx="6074278" cy="2381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280" y="3978477"/>
            <a:ext cx="2701984" cy="63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Observe Environment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981381" y="3960501"/>
            <a:ext cx="1178997" cy="189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Select 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981381" y="5334423"/>
            <a:ext cx="1178997" cy="18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Execute Action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1341" y="5334423"/>
            <a:ext cx="2196928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200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Store Experience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02255" y="6084342"/>
            <a:ext cx="11624904" cy="57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Use the diagram during explanation to walk through a single episode and show where each algorithm's strengths apply: stability (PPO/TRPO) vs precise continuous control (DDPG).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F1F3B2-709D-EB07-A30F-FD6940919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050" y="6334052"/>
            <a:ext cx="1609950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9347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Comparison, Applications &amp; Conclusion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05407"/>
              </p:ext>
            </p:extLst>
          </p:nvPr>
        </p:nvGraphicFramePr>
        <p:xfrm>
          <a:off x="661475" y="927199"/>
          <a:ext cx="10868746" cy="2062163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26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20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7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PPO / TRPO / DDPG</a:t>
                      </a:r>
                      <a:endParaRPr lang="en-US" sz="120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1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1" dirty="0">
                          <a:solidFill>
                            <a:srgbClr val="272525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20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A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Notes</a:t>
                      </a:r>
                      <a:endParaRPr lang="en-US" sz="120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9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Main approach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PPO: Policy OptimizationTRPO: Policy OptimizationDDPG: Actor‑Critic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Policy gradient vs constrained policy update vs deterministic actor–critic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Choose by action space &amp; stability needs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9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Policy update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PPO: ClippingTRPO: Trust region (KL)DDPG: Gradient from Critic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Controls update magnitude (PPO/TRPO); DDPG relies on critic accuracy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TRPO heavy compute; PPO practical; DDPG needs careful tuning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142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Action space &amp; stability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PPO: Discrete/Continuous, High stabilityTRPO: Discrete/Continuous, Very high stabilityDDPG: Mainly Continuous, Moderate stability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DDPG excels at fine continuous control; PPO/TRPO for robust policy improvement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50" dirty="0">
                          <a:solidFill>
                            <a:srgbClr val="E5DCE6"/>
                          </a:solidFill>
                          <a:latin typeface="Times New Roman" panose="02020603050405020304" pitchFamily="18" charset="0"/>
                          <a:ea typeface="Montserrat" pitchFamily="34" charset="-122"/>
                          <a:cs typeface="Times New Roman" panose="02020603050405020304" pitchFamily="18" charset="0"/>
                        </a:rPr>
                        <a:t>Replay, targets and exploration critical for DDPG</a:t>
                      </a:r>
                      <a:endParaRPr lang="en-US" sz="1050" dirty="0">
                        <a:latin typeface="Times New Roman" panose="02020603050405020304" pitchFamily="18" charset="0"/>
                        <a:ea typeface="Montserrat" charset="0"/>
                        <a:cs typeface="Times New Roman" panose="02020603050405020304" pitchFamily="18" charset="0"/>
                      </a:endParaRPr>
                    </a:p>
                  </a:txBody>
                  <a:tcPr marL="100785" marR="100785" marT="6350" marB="6350" anchor="ctr">
                    <a:lnL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8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0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308550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5DCE6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3253780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3"/>
          <p:cNvSpPr/>
          <p:nvPr/>
        </p:nvSpPr>
        <p:spPr>
          <a:xfrm>
            <a:off x="655430" y="3531281"/>
            <a:ext cx="5311444" cy="583406"/>
          </a:xfrm>
          <a:prstGeom prst="rect">
            <a:avLst/>
          </a:prstGeom>
          <a:noFill/>
          <a:ln/>
        </p:spPr>
        <p:txBody>
          <a:bodyPr wrap="square" lIns="0" tIns="40314" rIns="0" bIns="0" rtlCol="0" anchor="t">
            <a:no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Robotics &amp; manipulation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Autonomous vehicles &amp; drones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Smart manufacturing &amp; industrial automation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Continuous control systems (process control, motion planning)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25126" y="3253780"/>
            <a:ext cx="53114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EAEF6"/>
                </a:solidFill>
                <a:latin typeface="Times New Roman" panose="02020603050405020304" pitchFamily="18" charset="0"/>
                <a:ea typeface="Bricolage Grotesque ExtraBold" pitchFamily="34" charset="-122"/>
                <a:cs typeface="Times New Roman" panose="02020603050405020304" pitchFamily="18" charset="0"/>
              </a:rPr>
              <a:t>Conclusions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25126" y="3518481"/>
            <a:ext cx="5311444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E5DCE6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PPO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— simple, practical clipped updates for stable improvement.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E5DCE6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TRPO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— strong trust‑region control for high stability; higher compute.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E5DCE6"/>
                </a:solidFill>
                <a:latin typeface="Times New Roman" panose="02020603050405020304" pitchFamily="18" charset="0"/>
                <a:ea typeface="Montserrat Bold" pitchFamily="34" charset="-122"/>
                <a:cs typeface="Times New Roman" panose="02020603050405020304" pitchFamily="18" charset="0"/>
              </a:rPr>
              <a:t>DDPG</a:t>
            </a:r>
            <a:r>
              <a:rPr lang="en-US" sz="1400" dirty="0">
                <a:solidFill>
                  <a:srgbClr val="E5DCE6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— deterministic actor‑critic for precise continuous actions; requires replay, targets and careful exploration.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25126" y="4480348"/>
            <a:ext cx="5311444" cy="420291"/>
          </a:xfrm>
          <a:prstGeom prst="roundRect">
            <a:avLst>
              <a:gd name="adj" fmla="val 10072"/>
            </a:avLst>
          </a:prstGeom>
          <a:solidFill>
            <a:srgbClr val="670D7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31" y="4197251"/>
            <a:ext cx="125905" cy="1007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25126" y="4512106"/>
            <a:ext cx="6164626" cy="13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         The choice depends on action space, stability requirements, computational budget and 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application constraints.       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67825" y="4939209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E5DCE6">
              <a:alpha val="50000"/>
            </a:srgbClr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19" y="5060752"/>
            <a:ext cx="3564940" cy="1209377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328" y="5060752"/>
            <a:ext cx="3564940" cy="1209377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630" y="5068704"/>
            <a:ext cx="3564940" cy="12093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0BD368-106B-C2E7-B7FC-47AB6EA8EB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2050" y="6334052"/>
            <a:ext cx="1609950" cy="523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801</Words>
  <Application>Microsoft Office PowerPoint</Application>
  <PresentationFormat>Widescreen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Khavya KL</dc:creator>
  <cp:lastModifiedBy>Khavya KL</cp:lastModifiedBy>
  <cp:revision>11</cp:revision>
  <dcterms:created xsi:type="dcterms:W3CDTF">2026-08-29T05:03:09Z</dcterms:created>
  <dcterms:modified xsi:type="dcterms:W3CDTF">2026-08-29T05:18:41Z</dcterms:modified>
</cp:coreProperties>
</file>